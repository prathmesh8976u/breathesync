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0" r:id="rId4"/>
    <p:sldId id="258" r:id="rId5"/>
    <p:sldId id="259" r:id="rId6"/>
    <p:sldId id="260" r:id="rId7"/>
    <p:sldId id="261" r:id="rId8"/>
    <p:sldId id="262" r:id="rId9"/>
    <p:sldId id="263" r:id="rId10"/>
    <p:sldId id="27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85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22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5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55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3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95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23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95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6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673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1958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492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9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24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962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54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EA510-E08A-4014-BAC5-0312DC9DED8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842E9E0-F864-446C-AC49-9BF66E8D14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4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qlalchemy.org/" TargetMode="External"/><Relationship Id="rId2" Type="http://schemas.openxmlformats.org/officeDocument/2006/relationships/hyperlink" Target="https://flask.palletsproject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" TargetMode="External"/><Relationship Id="rId5" Type="http://schemas.openxmlformats.org/officeDocument/2006/relationships/hyperlink" Target="https://getbootstrap.com/" TargetMode="External"/><Relationship Id="rId4" Type="http://schemas.openxmlformats.org/officeDocument/2006/relationships/hyperlink" Target="https://textblob.readthedocs.io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72681"/>
          </a:xfrm>
        </p:spPr>
        <p:txBody>
          <a:bodyPr>
            <a:normAutofit/>
          </a:bodyPr>
          <a:lstStyle/>
          <a:p>
            <a:pPr algn="ctr"/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2860765"/>
            <a:ext cx="10515600" cy="35139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Web Based Stress Relief &amp; Wellness Platform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 : Prathmesh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Harischandrakar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115" y="365125"/>
            <a:ext cx="2597331" cy="237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1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rebuchet MS" panose="020B0603020202020204" pitchFamily="34" charset="0"/>
                <a:cs typeface="Times New Roman" panose="02020603050405020304" pitchFamily="18" charset="0"/>
              </a:rPr>
              <a:t>What Is </a:t>
            </a:r>
            <a:r>
              <a:rPr lang="en-IN" sz="4000" dirty="0" err="1" smtClean="0">
                <a:latin typeface="Trebuchet MS" panose="020B0603020202020204" pitchFamily="34" charset="0"/>
                <a:cs typeface="Times New Roman" panose="02020603050405020304" pitchFamily="18" charset="0"/>
              </a:rPr>
              <a:t>BreatheSync</a:t>
            </a:r>
            <a:r>
              <a:rPr lang="en-IN" sz="4000" dirty="0"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9625" y="1890501"/>
            <a:ext cx="921238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BreatheSync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is a web application focused on reducing stress and promoting mental well-being.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It offers content like: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              1.Relaxation Music Videos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         2.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Guided yoga and meditation Videos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         3.Videos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of Motivational Speakers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              4.Spiritual content for inner peace.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An integrated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chatbot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supports users emotionally using Natural Language Processing (NLP). 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Help user to Navigate user to watch which section video based on their condition </a:t>
            </a:r>
            <a:r>
              <a:rPr lang="en-US" altLang="en-US" sz="2400" dirty="0" err="1" smtClean="0">
                <a:cs typeface="Times New Roman" panose="02020603050405020304" pitchFamily="18" charset="0"/>
              </a:rPr>
              <a:t>eg</a:t>
            </a:r>
            <a:r>
              <a:rPr lang="en-US" altLang="en-US" sz="2400" dirty="0" smtClean="0">
                <a:cs typeface="Times New Roman" panose="02020603050405020304" pitchFamily="18" charset="0"/>
              </a:rPr>
              <a:t>- if he is unmotivated suggest to watch motivational speakers videos.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31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Need For Website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4503" y="2392815"/>
            <a:ext cx="107089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Rising stress, anxiety, and burnout among students and professionals.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Limited access to instant, trusted mental wellness resources.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Growing reliance on digital platforms for emotional support and self-care.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Lack of unified platforms that combine guided relaxation, meditation, and motivational support.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Users need personalized suggestions based on their emotional condition.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Need for a user-friendly and free solution with emotional intelligence and real-time assistance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299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03413" y="2628266"/>
            <a:ext cx="837482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High levels of stress and anxiety among youth and working professionals.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Lack of free, focused digital platforms offering immediate relaxation and motivation.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No emotional assistant that understands user moods and suggests relevant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95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50762" y="1376402"/>
            <a:ext cx="1007339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Develop a web platform with intuitive UI and secure authentication.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Offer categorized videos for relaxation, motivation, spirituality, and meditation.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Integrate a responsive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chatbot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that: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Analyzes user emotions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Suggests appropriate videos according to emotions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stressed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Guides breathing techniques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Collect user feedback to evaluate effectiveness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726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 &amp; Software </a:t>
            </a:r>
            <a:r>
              <a:rPr lang="en-IN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988615"/>
              </p:ext>
            </p:extLst>
          </p:nvPr>
        </p:nvGraphicFramePr>
        <p:xfrm>
          <a:off x="677863" y="2160588"/>
          <a:ext cx="8596314" cy="425071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65438">
                  <a:extLst>
                    <a:ext uri="{9D8B030D-6E8A-4147-A177-3AD203B41FA5}">
                      <a16:colId xmlns:a16="http://schemas.microsoft.com/office/drawing/2014/main" val="4131067537"/>
                    </a:ext>
                  </a:extLst>
                </a:gridCol>
                <a:gridCol w="2865438">
                  <a:extLst>
                    <a:ext uri="{9D8B030D-6E8A-4147-A177-3AD203B41FA5}">
                      <a16:colId xmlns:a16="http://schemas.microsoft.com/office/drawing/2014/main" val="3296953999"/>
                    </a:ext>
                  </a:extLst>
                </a:gridCol>
                <a:gridCol w="2865438">
                  <a:extLst>
                    <a:ext uri="{9D8B030D-6E8A-4147-A177-3AD203B41FA5}">
                      <a16:colId xmlns:a16="http://schemas.microsoft.com/office/drawing/2014/main" val="1954601722"/>
                    </a:ext>
                  </a:extLst>
                </a:gridCol>
              </a:tblGrid>
              <a:tr h="424365">
                <a:tc>
                  <a:txBody>
                    <a:bodyPr/>
                    <a:lstStyle/>
                    <a:p>
                      <a:r>
                        <a:rPr lang="en-IN" b="1" dirty="0"/>
                        <a:t>Category</a:t>
                      </a:r>
                      <a:endParaRPr lang="en-IN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Component</a:t>
                      </a:r>
                      <a:endParaRPr lang="en-IN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Details</a:t>
                      </a:r>
                      <a:endParaRPr lang="en-IN"/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2172385638"/>
                  </a:ext>
                </a:extLst>
              </a:tr>
              <a:tr h="576046">
                <a:tc>
                  <a:txBody>
                    <a:bodyPr/>
                    <a:lstStyle/>
                    <a:p>
                      <a:r>
                        <a:rPr lang="en-IN" b="1" dirty="0"/>
                        <a:t>Software</a:t>
                      </a:r>
                      <a:endParaRPr lang="en-IN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Frontend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HTML5, CSS3, JavaScript, Bootstrap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1966041051"/>
                  </a:ext>
                </a:extLst>
              </a:tr>
              <a:tr h="42436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Backend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Python, Flask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665281488"/>
                  </a:ext>
                </a:extLst>
              </a:tr>
              <a:tr h="5760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SQLite (with SQLAlchemy ORM)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3638680101"/>
                  </a:ext>
                </a:extLst>
              </a:tr>
              <a:tr h="42436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NLP Library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TextBlob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1648942901"/>
                  </a:ext>
                </a:extLst>
              </a:tr>
              <a:tr h="42436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Templating</a:t>
                      </a:r>
                      <a:r>
                        <a:rPr lang="en-IN" dirty="0"/>
                        <a:t> Engine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Jinja2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3052966951"/>
                  </a:ext>
                </a:extLst>
              </a:tr>
              <a:tr h="424365">
                <a:tc>
                  <a:txBody>
                    <a:bodyPr/>
                    <a:lstStyle/>
                    <a:p>
                      <a:r>
                        <a:rPr lang="en-IN" b="1"/>
                        <a:t>Hardware</a:t>
                      </a:r>
                      <a:endParaRPr lang="en-IN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Device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Laptop / PC / Mobile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2793341962"/>
                  </a:ext>
                </a:extLst>
              </a:tr>
              <a:tr h="42436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Internet</a:t>
                      </a:r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Required</a:t>
                      </a:r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2148292232"/>
                  </a:ext>
                </a:extLst>
              </a:tr>
              <a:tr h="42436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Browser </a:t>
                      </a:r>
                      <a:endParaRPr lang="en-IN" dirty="0"/>
                    </a:p>
                  </a:txBody>
                  <a:tcPr marL="74751" marR="74751"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Chrome</a:t>
                      </a:r>
                      <a:endParaRPr lang="en-IN" dirty="0"/>
                    </a:p>
                  </a:txBody>
                  <a:tcPr marL="74751" marR="74751" anchor="ctr"/>
                </a:tc>
                <a:extLst>
                  <a:ext uri="{0D108BD9-81ED-4DB2-BD59-A6C34878D82A}">
                    <a16:rowId xmlns:a16="http://schemas.microsoft.com/office/drawing/2014/main" val="1514289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919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Digrams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/>
              <a:t>-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97022" y="1768703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>
                <a:cs typeface="Times New Roman" panose="02020603050405020304" pitchFamily="18" charset="0"/>
              </a:rPr>
              <a:t>USECASE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 smtClean="0">
                <a:cs typeface="Times New Roman" panose="02020603050405020304" pitchFamily="18" charset="0"/>
              </a:rPr>
              <a:t>ClASS</a:t>
            </a:r>
            <a:endParaRPr lang="en-IN" sz="2400" dirty="0" smtClean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cs typeface="Times New Roman" panose="02020603050405020304" pitchFamily="18" charset="0"/>
              </a:rPr>
              <a:t>ERD</a:t>
            </a:r>
            <a:endParaRPr lang="en-IN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05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438" y="0"/>
            <a:ext cx="6605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2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2831" y="122785"/>
            <a:ext cx="8596668" cy="100062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963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16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12181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Form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1417"/>
            <a:ext cx="8596668" cy="47548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/>
              <a:t>User Signup </a:t>
            </a:r>
            <a:r>
              <a:rPr lang="en-IN" sz="2000" dirty="0"/>
              <a:t>Form Fields</a:t>
            </a:r>
            <a:r>
              <a:rPr lang="en-IN" sz="2000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/>
              <a:t>           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 smtClean="0"/>
              <a:t>           Email Address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 smtClean="0"/>
              <a:t>           Password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/>
              <a:t>Purpose : To collect user Information and create Account in website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 </a:t>
            </a:r>
            <a:r>
              <a:rPr lang="en-IN" sz="2000" dirty="0" smtClean="0"/>
              <a:t>Features: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 </a:t>
            </a:r>
            <a:r>
              <a:rPr lang="en-IN" sz="2000" dirty="0" smtClean="0"/>
              <a:t>           Input validation(</a:t>
            </a:r>
            <a:r>
              <a:rPr lang="en-IN" sz="2000" dirty="0" err="1" smtClean="0"/>
              <a:t>eg</a:t>
            </a:r>
            <a:r>
              <a:rPr lang="en-IN" sz="2000" dirty="0" smtClean="0"/>
              <a:t> email ,name </a:t>
            </a:r>
            <a:r>
              <a:rPr lang="en-IN" sz="2000" dirty="0" err="1" smtClean="0"/>
              <a:t>etc</a:t>
            </a:r>
            <a:r>
              <a:rPr lang="en-IN" sz="2000" dirty="0" smtClean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 </a:t>
            </a:r>
            <a:r>
              <a:rPr lang="en-IN" sz="2000" dirty="0" smtClean="0"/>
              <a:t>           </a:t>
            </a:r>
            <a:r>
              <a:rPr lang="en-US" sz="2000" dirty="0"/>
              <a:t>Checks for </a:t>
            </a:r>
            <a:r>
              <a:rPr lang="en-US" sz="2000" b="1" dirty="0"/>
              <a:t>existing email</a:t>
            </a:r>
            <a:r>
              <a:rPr lang="en-US" sz="2000" dirty="0"/>
              <a:t> to prevent duplicates</a:t>
            </a:r>
            <a:endParaRPr lang="en-IN" sz="2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 </a:t>
            </a:r>
            <a:r>
              <a:rPr lang="en-IN" sz="2000" dirty="0" smtClean="0"/>
              <a:t>           </a:t>
            </a:r>
            <a:r>
              <a:rPr lang="en-US" sz="2000" dirty="0"/>
              <a:t>On success, user is </a:t>
            </a:r>
            <a:r>
              <a:rPr lang="en-US" sz="2000" b="1" dirty="0"/>
              <a:t>automatically logged </a:t>
            </a:r>
            <a:r>
              <a:rPr lang="en-US" sz="2000" b="1" dirty="0" smtClean="0"/>
              <a:t>in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 </a:t>
            </a:r>
            <a:r>
              <a:rPr lang="en-US" sz="2000" b="1" dirty="0" smtClean="0"/>
              <a:t>           </a:t>
            </a:r>
            <a:r>
              <a:rPr lang="en-US" sz="2000" dirty="0"/>
              <a:t>Includes </a:t>
            </a:r>
            <a:r>
              <a:rPr lang="en-US" sz="2000" b="1" dirty="0"/>
              <a:t>Terms &amp; Conditions</a:t>
            </a:r>
            <a:r>
              <a:rPr lang="en-US" sz="2000" dirty="0"/>
              <a:t> checkbox (mandatory to submit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35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287553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Form Designs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32411"/>
            <a:ext cx="8596668" cy="47089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/>
              <a:t>User Login form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/>
              <a:t> Field: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/>
              <a:t>     email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dirty="0" smtClean="0"/>
              <a:t>    password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/>
              <a:t>Purpose: to logging in website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 smtClean="0"/>
              <a:t>Features: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 </a:t>
            </a:r>
            <a:r>
              <a:rPr lang="en-IN" sz="2000" dirty="0" smtClean="0"/>
              <a:t>     </a:t>
            </a:r>
            <a:r>
              <a:rPr lang="en-US" sz="2000" dirty="0"/>
              <a:t>Requires </a:t>
            </a:r>
            <a:r>
              <a:rPr lang="en-US" sz="2000" b="1" dirty="0"/>
              <a:t>registered email and </a:t>
            </a:r>
            <a:r>
              <a:rPr lang="en-US" sz="2000" b="1" dirty="0" smtClean="0"/>
              <a:t>password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 </a:t>
            </a:r>
            <a:r>
              <a:rPr lang="en-US" sz="2000" b="1" dirty="0" smtClean="0"/>
              <a:t>     </a:t>
            </a:r>
            <a:r>
              <a:rPr lang="en-US" sz="2000" dirty="0"/>
              <a:t>Displays clear </a:t>
            </a:r>
            <a:r>
              <a:rPr lang="en-US" sz="2000" b="1" dirty="0"/>
              <a:t>error messages</a:t>
            </a:r>
            <a:r>
              <a:rPr lang="en-US" sz="2000" dirty="0"/>
              <a:t> on invalid </a:t>
            </a:r>
            <a:r>
              <a:rPr lang="en-US" sz="2000" dirty="0" smtClean="0"/>
              <a:t>attempts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      </a:t>
            </a:r>
            <a:r>
              <a:rPr lang="en-US" sz="2000" dirty="0" smtClean="0"/>
              <a:t>On </a:t>
            </a:r>
            <a:r>
              <a:rPr lang="en-US" sz="2000" dirty="0"/>
              <a:t>success, starts a </a:t>
            </a:r>
            <a:r>
              <a:rPr lang="en-US" sz="2000" b="1" dirty="0"/>
              <a:t>user session</a:t>
            </a:r>
            <a:r>
              <a:rPr lang="en-US" sz="2000" dirty="0"/>
              <a:t> and redirects to </a:t>
            </a:r>
            <a:r>
              <a:rPr lang="en-US" sz="2000" dirty="0" smtClean="0"/>
              <a:t>homepage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      </a:t>
            </a:r>
            <a:r>
              <a:rPr lang="en-US" sz="2000" dirty="0" smtClean="0"/>
              <a:t>Displays </a:t>
            </a:r>
            <a:r>
              <a:rPr lang="en-US" sz="2000" b="1" dirty="0"/>
              <a:t>user profile initials and name</a:t>
            </a:r>
            <a:r>
              <a:rPr lang="en-US" sz="2000" dirty="0"/>
              <a:t> in </a:t>
            </a:r>
            <a:r>
              <a:rPr lang="en-US" sz="2000" dirty="0" err="1"/>
              <a:t>navbar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91550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2210847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38317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Form Designs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084216"/>
            <a:ext cx="9812141" cy="532964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Feedback Fields</a:t>
            </a:r>
            <a:r>
              <a:rPr lang="en-IN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      name , satisfaction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      email , suggestions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      rating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      quality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      usability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Purpose : To collect feedback from user and update website as per their suggestions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Features: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/>
              <a:t>     </a:t>
            </a:r>
            <a:r>
              <a:rPr lang="en-US" dirty="0" smtClean="0"/>
              <a:t>Accepts </a:t>
            </a:r>
            <a:r>
              <a:rPr lang="en-US" b="1" dirty="0" smtClean="0"/>
              <a:t>name, email, rating, and suggestions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    Feedback stored in </a:t>
            </a:r>
            <a:r>
              <a:rPr lang="en-US" b="1" dirty="0" smtClean="0"/>
              <a:t>SQLite database</a:t>
            </a:r>
            <a:r>
              <a:rPr lang="en-US" dirty="0" smtClean="0"/>
              <a:t> and exported to </a:t>
            </a:r>
            <a:r>
              <a:rPr lang="en-US" b="1" dirty="0" smtClean="0"/>
              <a:t>CSV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/>
              <a:t>     Displays submitted feedbacks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/>
              <a:t>     Collects detailed inpu</a:t>
            </a:r>
            <a:r>
              <a:rPr lang="en-IN" sz="2000" dirty="0" smtClean="0"/>
              <a:t>ts  </a:t>
            </a:r>
          </a:p>
          <a:p>
            <a:pPr marL="0" indent="0">
              <a:buNone/>
            </a:pPr>
            <a:r>
              <a:rPr lang="en-IN" sz="2000" dirty="0" smtClean="0"/>
              <a:t>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61000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977" y="0"/>
            <a:ext cx="6400799" cy="6858000"/>
          </a:xfrm>
        </p:spPr>
      </p:pic>
    </p:spTree>
    <p:extLst>
      <p:ext uri="{BB962C8B-B14F-4D97-AF65-F5344CB8AC3E}">
        <p14:creationId xmlns:p14="http://schemas.microsoft.com/office/powerpoint/2010/main" val="1591393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Form Designs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827" y="1371600"/>
            <a:ext cx="8999682" cy="539495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Edit Profile Fields</a:t>
            </a:r>
            <a:r>
              <a:rPr lang="en-IN" dirty="0"/>
              <a:t>:</a:t>
            </a:r>
            <a:r>
              <a:rPr lang="en-IN" dirty="0" smtClean="0"/>
              <a:t>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smtClean="0"/>
              <a:t>       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smtClean="0"/>
              <a:t>        email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smtClean="0"/>
              <a:t>        old password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smtClean="0"/>
              <a:t>        new password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Purpose : to give user usability to update his profile like name password.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/>
              <a:t>Features: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</a:t>
            </a:r>
            <a:r>
              <a:rPr lang="en-IN" dirty="0" smtClean="0"/>
              <a:t> </a:t>
            </a:r>
            <a:r>
              <a:rPr lang="en-US" dirty="0" smtClean="0"/>
              <a:t>Allows </a:t>
            </a:r>
            <a:r>
              <a:rPr lang="en-US" dirty="0"/>
              <a:t>user to </a:t>
            </a:r>
            <a:r>
              <a:rPr lang="en-US" b="1" dirty="0"/>
              <a:t>update username and </a:t>
            </a:r>
            <a:r>
              <a:rPr lang="en-US" b="1" dirty="0" smtClean="0"/>
              <a:t>email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  Checks </a:t>
            </a:r>
            <a:r>
              <a:rPr lang="en-US" b="1" dirty="0"/>
              <a:t>old password</a:t>
            </a:r>
            <a:r>
              <a:rPr lang="en-US" dirty="0"/>
              <a:t> before allowing password </a:t>
            </a:r>
            <a:r>
              <a:rPr lang="en-US" dirty="0" smtClean="0"/>
              <a:t>update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  Includes </a:t>
            </a:r>
            <a:r>
              <a:rPr lang="en-US" dirty="0"/>
              <a:t>option to </a:t>
            </a:r>
            <a:r>
              <a:rPr lang="en-US" b="1" dirty="0"/>
              <a:t>delete account </a:t>
            </a:r>
            <a:r>
              <a:rPr lang="en-US" b="1" dirty="0" smtClean="0"/>
              <a:t>permanently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  Updates </a:t>
            </a:r>
            <a:r>
              <a:rPr lang="en-US" dirty="0"/>
              <a:t>stored details in the </a:t>
            </a:r>
            <a:r>
              <a:rPr lang="en-US" b="1" dirty="0"/>
              <a:t>SQLite </a:t>
            </a:r>
            <a:r>
              <a:rPr lang="en-US" b="1" dirty="0" smtClean="0"/>
              <a:t>database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  Protects </a:t>
            </a:r>
            <a:r>
              <a:rPr lang="en-US" dirty="0"/>
              <a:t>access — only </a:t>
            </a:r>
            <a:r>
              <a:rPr lang="en-US" b="1" dirty="0"/>
              <a:t>logged-in users</a:t>
            </a:r>
            <a:r>
              <a:rPr lang="en-US" dirty="0"/>
              <a:t> can edit their profile</a:t>
            </a:r>
            <a:endParaRPr lang="en-IN" dirty="0" smtClean="0"/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43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1354952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Database Design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539812"/>
              </p:ext>
            </p:extLst>
          </p:nvPr>
        </p:nvGraphicFramePr>
        <p:xfrm>
          <a:off x="574675" y="1930400"/>
          <a:ext cx="8699500" cy="37204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74875">
                  <a:extLst>
                    <a:ext uri="{9D8B030D-6E8A-4147-A177-3AD203B41FA5}">
                      <a16:colId xmlns:a16="http://schemas.microsoft.com/office/drawing/2014/main" val="3941509633"/>
                    </a:ext>
                  </a:extLst>
                </a:gridCol>
                <a:gridCol w="2174875">
                  <a:extLst>
                    <a:ext uri="{9D8B030D-6E8A-4147-A177-3AD203B41FA5}">
                      <a16:colId xmlns:a16="http://schemas.microsoft.com/office/drawing/2014/main" val="558336363"/>
                    </a:ext>
                  </a:extLst>
                </a:gridCol>
                <a:gridCol w="2174875">
                  <a:extLst>
                    <a:ext uri="{9D8B030D-6E8A-4147-A177-3AD203B41FA5}">
                      <a16:colId xmlns:a16="http://schemas.microsoft.com/office/drawing/2014/main" val="4250225694"/>
                    </a:ext>
                  </a:extLst>
                </a:gridCol>
                <a:gridCol w="2174875">
                  <a:extLst>
                    <a:ext uri="{9D8B030D-6E8A-4147-A177-3AD203B41FA5}">
                      <a16:colId xmlns:a16="http://schemas.microsoft.com/office/drawing/2014/main" val="3600517814"/>
                    </a:ext>
                  </a:extLst>
                </a:gridCol>
              </a:tblGrid>
              <a:tr h="625795">
                <a:tc>
                  <a:txBody>
                    <a:bodyPr/>
                    <a:lstStyle/>
                    <a:p>
                      <a:r>
                        <a:rPr lang="en-IN" b="1"/>
                        <a:t>Table Name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Field Name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 Type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205470"/>
                  </a:ext>
                </a:extLst>
              </a:tr>
              <a:tr h="625795">
                <a:tc>
                  <a:txBody>
                    <a:bodyPr/>
                    <a:lstStyle/>
                    <a:p>
                      <a:r>
                        <a:rPr lang="en-IN" b="1"/>
                        <a:t>user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INTEGER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user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943654"/>
                  </a:ext>
                </a:extLst>
              </a:tr>
              <a:tr h="63152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 name of the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285195"/>
                  </a:ext>
                </a:extLst>
              </a:tr>
              <a:tr h="9021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User’s email address (must be unique)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611432"/>
                  </a:ext>
                </a:extLst>
              </a:tr>
              <a:tr h="9021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password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mtClean="0"/>
                        <a:t>VARCHAR(100</a:t>
                      </a:r>
                      <a:r>
                        <a:rPr lang="en-IN" dirty="0" smtClean="0"/>
                        <a:t>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Encrypted password (using hashing)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625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658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113881"/>
              </p:ext>
            </p:extLst>
          </p:nvPr>
        </p:nvGraphicFramePr>
        <p:xfrm>
          <a:off x="222062" y="352697"/>
          <a:ext cx="10123720" cy="644425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30930">
                  <a:extLst>
                    <a:ext uri="{9D8B030D-6E8A-4147-A177-3AD203B41FA5}">
                      <a16:colId xmlns:a16="http://schemas.microsoft.com/office/drawing/2014/main" val="2606222626"/>
                    </a:ext>
                  </a:extLst>
                </a:gridCol>
                <a:gridCol w="2530930">
                  <a:extLst>
                    <a:ext uri="{9D8B030D-6E8A-4147-A177-3AD203B41FA5}">
                      <a16:colId xmlns:a16="http://schemas.microsoft.com/office/drawing/2014/main" val="2061014184"/>
                    </a:ext>
                  </a:extLst>
                </a:gridCol>
                <a:gridCol w="2530930">
                  <a:extLst>
                    <a:ext uri="{9D8B030D-6E8A-4147-A177-3AD203B41FA5}">
                      <a16:colId xmlns:a16="http://schemas.microsoft.com/office/drawing/2014/main" val="774147613"/>
                    </a:ext>
                  </a:extLst>
                </a:gridCol>
                <a:gridCol w="2530930">
                  <a:extLst>
                    <a:ext uri="{9D8B030D-6E8A-4147-A177-3AD203B41FA5}">
                      <a16:colId xmlns:a16="http://schemas.microsoft.com/office/drawing/2014/main" val="421447483"/>
                    </a:ext>
                  </a:extLst>
                </a:gridCol>
              </a:tblGrid>
              <a:tr h="566487">
                <a:tc>
                  <a:txBody>
                    <a:bodyPr/>
                    <a:lstStyle/>
                    <a:p>
                      <a:r>
                        <a:rPr lang="en-IN" dirty="0" smtClean="0"/>
                        <a:t>Table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Field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Datatype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207865"/>
                  </a:ext>
                </a:extLst>
              </a:tr>
              <a:tr h="393697">
                <a:tc>
                  <a:txBody>
                    <a:bodyPr/>
                    <a:lstStyle/>
                    <a:p>
                      <a:r>
                        <a:rPr lang="en-IN" dirty="0" smtClean="0"/>
                        <a:t>feedback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INTEGER(PK)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Unique</a:t>
                      </a:r>
                      <a:r>
                        <a:rPr lang="en-IN" baseline="0" dirty="0" smtClean="0"/>
                        <a:t> Feedback 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925796"/>
                  </a:ext>
                </a:extLst>
              </a:tr>
              <a:tr h="71777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Name of person submitting feedback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537627"/>
                  </a:ext>
                </a:extLst>
              </a:tr>
              <a:tr h="61160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email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Email address</a:t>
                      </a:r>
                      <a:r>
                        <a:rPr lang="en-IN" baseline="0" dirty="0" smtClean="0"/>
                        <a:t> of the user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355452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rating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INTEGER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Overall Rating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960665"/>
                  </a:ext>
                </a:extLst>
              </a:tr>
              <a:tr h="6116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service_quality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Rating of service quality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9226"/>
                  </a:ext>
                </a:extLst>
              </a:tr>
              <a:tr h="56005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website_usablity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Rating</a:t>
                      </a:r>
                      <a:r>
                        <a:rPr lang="en-IN" baseline="0" dirty="0" smtClean="0"/>
                        <a:t> of site </a:t>
                      </a:r>
                      <a:r>
                        <a:rPr lang="en-IN" baseline="0" dirty="0" err="1" smtClean="0"/>
                        <a:t>usablity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45552"/>
                  </a:ext>
                </a:extLst>
              </a:tr>
              <a:tr h="6116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content _satisfaction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Rating</a:t>
                      </a:r>
                      <a:r>
                        <a:rPr lang="en-IN" baseline="0" dirty="0" smtClean="0"/>
                        <a:t> of content quality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102829"/>
                  </a:ext>
                </a:extLst>
              </a:tr>
              <a:tr h="6116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recommendation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VARCHAR(20)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Whether the user recommend site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37953"/>
                  </a:ext>
                </a:extLst>
              </a:tr>
              <a:tr h="6116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suggestions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TEXT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Suggestions</a:t>
                      </a:r>
                      <a:r>
                        <a:rPr lang="en-IN" baseline="0" dirty="0" smtClean="0"/>
                        <a:t> or comments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913398"/>
                  </a:ext>
                </a:extLst>
              </a:tr>
              <a:tr h="6116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timestamp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DATETIME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Sunmission</a:t>
                      </a:r>
                      <a:r>
                        <a:rPr lang="en-IN" dirty="0" smtClean="0"/>
                        <a:t> date and time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80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832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-35979"/>
            <a:ext cx="8596668" cy="1320800"/>
          </a:xfrm>
        </p:spPr>
        <p:txBody>
          <a:bodyPr/>
          <a:lstStyle/>
          <a:p>
            <a:r>
              <a:rPr lang="en-IN" dirty="0" smtClean="0"/>
              <a:t>Future Scope</a:t>
            </a:r>
            <a:endParaRPr lang="en-IN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78823" y="840684"/>
            <a:ext cx="957755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 Integrate </a:t>
            </a:r>
            <a:r>
              <a:rPr lang="en-US" altLang="en-US" sz="2400" dirty="0">
                <a:solidFill>
                  <a:schemeClr val="tx1"/>
                </a:solidFill>
              </a:rPr>
              <a:t>virtual counseling for live </a:t>
            </a:r>
            <a:r>
              <a:rPr lang="en-US" altLang="en-US" sz="2400" dirty="0" smtClean="0">
                <a:solidFill>
                  <a:schemeClr val="tx1"/>
                </a:solidFill>
              </a:rPr>
              <a:t>support.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Develop AI-powered content recommendations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Enhance sentiment analysis with multilingual NLP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Add animated breathing guides and voice guidance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Launch a mobile app for on-the-go access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Create </a:t>
            </a:r>
            <a:r>
              <a:rPr lang="en-US" altLang="en-US" sz="2400" dirty="0">
                <a:solidFill>
                  <a:schemeClr val="tx1"/>
                </a:solidFill>
              </a:rPr>
              <a:t>an admin dashboard for real-time analytics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Build a community forum for peer support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</a:rPr>
              <a:t>Add </a:t>
            </a:r>
            <a:r>
              <a:rPr lang="en-US" altLang="en-US" sz="2400" dirty="0">
                <a:solidFill>
                  <a:schemeClr val="tx1"/>
                </a:solidFill>
              </a:rPr>
              <a:t>multilingual support and accessibility features.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9406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Bilbography</a:t>
            </a:r>
            <a:r>
              <a:rPr lang="en-IN" dirty="0" smtClean="0"/>
              <a:t> 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334036"/>
              </p:ext>
            </p:extLst>
          </p:nvPr>
        </p:nvGraphicFramePr>
        <p:xfrm>
          <a:off x="677863" y="3918426"/>
          <a:ext cx="8596312" cy="365760"/>
        </p:xfrm>
        <a:graphic>
          <a:graphicData uri="http://schemas.openxmlformats.org/drawingml/2006/table">
            <a:tbl>
              <a:tblPr/>
              <a:tblGrid>
                <a:gridCol w="8596312">
                  <a:extLst>
                    <a:ext uri="{9D8B030D-6E8A-4147-A177-3AD203B41FA5}">
                      <a16:colId xmlns:a16="http://schemas.microsoft.com/office/drawing/2014/main" val="2097005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094633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7334" y="1463041"/>
            <a:ext cx="8596668" cy="5042262"/>
          </a:xfrm>
        </p:spPr>
        <p:txBody>
          <a:bodyPr/>
          <a:lstStyle/>
          <a:p>
            <a:r>
              <a:rPr lang="en-US" b="1" dirty="0"/>
              <a:t>Flask Documentation</a:t>
            </a:r>
            <a:r>
              <a:rPr lang="en-US" dirty="0"/>
              <a:t> – Official guide for Flask, the Python-based web framework used to build the backend of </a:t>
            </a:r>
            <a:r>
              <a:rPr lang="en-US" dirty="0" err="1"/>
              <a:t>BreatheSync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Source: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flask.palletsprojects.com</a:t>
            </a:r>
            <a:endParaRPr lang="en-US" dirty="0" smtClean="0"/>
          </a:p>
          <a:p>
            <a:r>
              <a:rPr lang="en-US" b="1" dirty="0" err="1"/>
              <a:t>SQLAlchemy</a:t>
            </a:r>
            <a:r>
              <a:rPr lang="en-US" b="1" dirty="0"/>
              <a:t> Documentation</a:t>
            </a:r>
            <a:r>
              <a:rPr lang="en-US" dirty="0"/>
              <a:t> – Reference for the </a:t>
            </a:r>
            <a:r>
              <a:rPr lang="en-US" dirty="0" err="1"/>
              <a:t>SQLAlchemy</a:t>
            </a:r>
            <a:r>
              <a:rPr lang="en-US" dirty="0"/>
              <a:t> ORM, used for interacting with the SQLite database.</a:t>
            </a:r>
            <a:br>
              <a:rPr lang="en-US" dirty="0"/>
            </a:br>
            <a:r>
              <a:rPr lang="en-US" i="1" dirty="0"/>
              <a:t>Source: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docs.sqlalchemy.org</a:t>
            </a:r>
            <a:endParaRPr lang="en-US" dirty="0" smtClean="0"/>
          </a:p>
          <a:p>
            <a:r>
              <a:rPr lang="en-US" b="1" dirty="0" err="1"/>
              <a:t>TextBlob</a:t>
            </a:r>
            <a:r>
              <a:rPr lang="en-US" b="1" dirty="0"/>
              <a:t> Documentation</a:t>
            </a:r>
            <a:r>
              <a:rPr lang="en-US" dirty="0"/>
              <a:t> – Library used for natural language processing (NLP) to analyze user sentiment in the </a:t>
            </a:r>
            <a:r>
              <a:rPr lang="en-US" dirty="0" err="1"/>
              <a:t>chatbot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Source: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textblob.readthedocs.io</a:t>
            </a:r>
            <a:endParaRPr lang="en-US" dirty="0" smtClean="0"/>
          </a:p>
          <a:p>
            <a:r>
              <a:rPr lang="en-US" b="1" dirty="0"/>
              <a:t>Bootstrap Documentation</a:t>
            </a:r>
            <a:r>
              <a:rPr lang="en-US" dirty="0"/>
              <a:t> – CSS framework used for responsive UI and mobile-friendly design.</a:t>
            </a:r>
            <a:br>
              <a:rPr lang="en-US" dirty="0"/>
            </a:br>
            <a:r>
              <a:rPr lang="en-US" i="1" dirty="0" smtClean="0"/>
              <a:t>Source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getbootstrap.com</a:t>
            </a:r>
            <a:endParaRPr lang="en-US" dirty="0" smtClean="0"/>
          </a:p>
          <a:p>
            <a:r>
              <a:rPr lang="en-US" b="1" dirty="0"/>
              <a:t>YouTube</a:t>
            </a:r>
            <a:r>
              <a:rPr lang="en-US" dirty="0"/>
              <a:t> – Wellness and motivational videos were sourced from credible channels for categories like meditation, yoga, and relaxation.</a:t>
            </a:r>
            <a:br>
              <a:rPr lang="en-US" dirty="0"/>
            </a:br>
            <a:r>
              <a:rPr lang="en-US" i="1" dirty="0"/>
              <a:t>Source: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https://www.youtube.com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93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Created By: </a:t>
            </a:r>
            <a:r>
              <a:rPr lang="en-IN" dirty="0" err="1" smtClean="0"/>
              <a:t>Prathmesh</a:t>
            </a:r>
            <a:r>
              <a:rPr lang="en-IN" dirty="0" smtClean="0"/>
              <a:t> </a:t>
            </a:r>
            <a:r>
              <a:rPr lang="en-IN" dirty="0" err="1" smtClean="0"/>
              <a:t>Harischandrakar</a:t>
            </a:r>
            <a:r>
              <a:rPr lang="en-IN" dirty="0" smtClean="0"/>
              <a:t> &amp;Chirag Shetty</a:t>
            </a:r>
          </a:p>
          <a:p>
            <a:r>
              <a:rPr lang="en-IN" dirty="0" smtClean="0"/>
              <a:t>Project </a:t>
            </a:r>
            <a:r>
              <a:rPr lang="en-IN" dirty="0" err="1" smtClean="0"/>
              <a:t>Guide:Dr</a:t>
            </a:r>
            <a:r>
              <a:rPr lang="en-IN" dirty="0" smtClean="0"/>
              <a:t> </a:t>
            </a:r>
            <a:r>
              <a:rPr lang="en-IN" dirty="0" err="1" smtClean="0"/>
              <a:t>Abhijit</a:t>
            </a:r>
            <a:r>
              <a:rPr lang="en-IN" dirty="0" smtClean="0"/>
              <a:t> </a:t>
            </a:r>
            <a:r>
              <a:rPr lang="en-IN" dirty="0" err="1" smtClean="0"/>
              <a:t>Parchure</a:t>
            </a:r>
            <a:endParaRPr lang="en-IN" dirty="0" smtClean="0"/>
          </a:p>
          <a:p>
            <a:pPr marL="0" indent="0">
              <a:buNone/>
            </a:pPr>
            <a:r>
              <a:rPr lang="en-US" dirty="0" smtClean="0"/>
              <a:t>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    "</a:t>
            </a:r>
            <a:r>
              <a:rPr lang="en-US" sz="2400" dirty="0"/>
              <a:t>Breathe in peace, breathe out stress."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143676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228</TotalTime>
  <Words>812</Words>
  <Application>Microsoft Office PowerPoint</Application>
  <PresentationFormat>Widescreen</PresentationFormat>
  <Paragraphs>191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Times New Roman</vt:lpstr>
      <vt:lpstr>Trebuchet MS</vt:lpstr>
      <vt:lpstr>Wingdings</vt:lpstr>
      <vt:lpstr>Wingdings 3</vt:lpstr>
      <vt:lpstr>Facet</vt:lpstr>
      <vt:lpstr> </vt:lpstr>
      <vt:lpstr>What Is BreatheSync ?</vt:lpstr>
      <vt:lpstr>Need For Website</vt:lpstr>
      <vt:lpstr>Problem Statement</vt:lpstr>
      <vt:lpstr>Objectives</vt:lpstr>
      <vt:lpstr>Hardware  &amp; Software Requirments</vt:lpstr>
      <vt:lpstr> Digrams - </vt:lpstr>
      <vt:lpstr>PowerPoint Presentation</vt:lpstr>
      <vt:lpstr>PowerPoint Presentation</vt:lpstr>
      <vt:lpstr>PowerPoint Presentation</vt:lpstr>
      <vt:lpstr>Form Design</vt:lpstr>
      <vt:lpstr>PowerPoint Presentation</vt:lpstr>
      <vt:lpstr>Form Designs</vt:lpstr>
      <vt:lpstr>PowerPoint Presentation</vt:lpstr>
      <vt:lpstr>Form Designs</vt:lpstr>
      <vt:lpstr>PowerPoint Presentation</vt:lpstr>
      <vt:lpstr>Form Designs</vt:lpstr>
      <vt:lpstr>PowerPoint Presentation</vt:lpstr>
      <vt:lpstr>Database Design</vt:lpstr>
      <vt:lpstr>PowerPoint Presentation</vt:lpstr>
      <vt:lpstr>Future Scope</vt:lpstr>
      <vt:lpstr>Bilbography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BreatheSync –</dc:title>
  <dc:creator>user</dc:creator>
  <cp:lastModifiedBy>Prathmesh</cp:lastModifiedBy>
  <cp:revision>34</cp:revision>
  <dcterms:created xsi:type="dcterms:W3CDTF">2025-05-01T09:36:43Z</dcterms:created>
  <dcterms:modified xsi:type="dcterms:W3CDTF">2026-08-30T09:44:57Z</dcterms:modified>
</cp:coreProperties>
</file>